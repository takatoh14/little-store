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371600"/>
            <a:ext cx="3657600" cy="3657600"/>
          </a:xfrm>
          <a:prstGeom prst="ellipse">
            <a:avLst/>
          </a:prstGeom>
          <a:solidFill>
            <a:srgbClr val="B8504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474720"/>
            <a:ext cx="2743200" cy="2743200"/>
          </a:xfrm>
          <a:prstGeom prst="ellipse">
            <a:avLst/>
          </a:prstGeom>
          <a:solidFill>
            <a:srgbClr val="A7BEAE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EC開発プロジェクト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 ── Little Store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2026年7月2日 / Version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プロジェクト概要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E7E8D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06040" y="128016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フルスタック開発の学習・実践、ポートフォリオとしての成果物作成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E7E8D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933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運用形態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1993392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実運用はせず、開発〜リリースまでの一連の工程を体験する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E7E8D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0662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開発体制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706624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個人開発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E7E8D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1985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開発環境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3419856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33088"/>
            <a:ext cx="8046720" cy="621792"/>
          </a:xfrm>
          <a:prstGeom prst="roundRect">
            <a:avLst>
              <a:gd name="adj" fmla="val 8824"/>
            </a:avLst>
          </a:prstGeom>
          <a:solidFill>
            <a:srgbClr val="E7E8D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3308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4133088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Git（GitHub等でのリポジトリ管理を推奨）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プロジェクト概要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サイトコンセプト（提案）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B85042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Little Store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毎日の机まわりを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少し楽しくする雑貨店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商材：オリジナルデザインの雑貨・文房具（数十点程度）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256032" cy="25603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325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83480" y="1280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在庫数が少なく管理がシンプル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256032" cy="25603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83480" y="2240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実店舗の複雑な業務知識が不要で学習に集中できる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246120"/>
            <a:ext cx="256032" cy="25603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246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83480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デザイン面でも世界観を作り込みやすい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この題材はあくまで仮案です。ジャンルを差し替えても以降の設計書はそのまま流用できます。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サイトコンセプト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ターゲットユーザー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E7E8D1"/>
          </a:solidFill>
          <a:ln/>
        </p:spPr>
      </p:sp>
      <p:sp>
        <p:nvSpPr>
          <p:cNvPr id="4" name="Shape 2"/>
          <p:cNvSpPr/>
          <p:nvPr/>
        </p:nvSpPr>
        <p:spPr>
          <a:xfrm>
            <a:off x="1737360" y="169164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20〜30代女性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雑貨・文房具好き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SNSで見つけた商品を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オンラインで購入したい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4297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利用シーンのポイント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スマートフォンでの閲覧・購入が中心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レスポンシブ対応が必須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隙間時間にサクサク見られるUIが望ましい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ターゲットユーザー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主要機能一覧（MVP）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585216"/>
          </a:xfrm>
          <a:prstGeom prst="roundRect">
            <a:avLst>
              <a:gd name="adj" fmla="val 9375"/>
            </a:avLst>
          </a:prstGeom>
          <a:solidFill>
            <a:srgbClr val="E7E8D1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353312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234440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商品一覧表示 / 商品詳細表示 / カテゴリ絞り込み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47672"/>
            <a:ext cx="8046720" cy="585216"/>
          </a:xfrm>
          <a:prstGeom prst="roundRect">
            <a:avLst>
              <a:gd name="adj" fmla="val 9375"/>
            </a:avLst>
          </a:prstGeom>
          <a:solidFill>
            <a:srgbClr val="E7E8D1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066544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94767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1947672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会員登録 / ログイン・ログアウト / マイページ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8046720" cy="585216"/>
          </a:xfrm>
          <a:prstGeom prst="roundRect">
            <a:avLst>
              <a:gd name="adj" fmla="val 9375"/>
            </a:avLst>
          </a:prstGeom>
          <a:solidFill>
            <a:srgbClr val="E7E8D1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2779776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66090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2660904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カート機能 / 注文（決済） / 注文履歴確認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74136"/>
            <a:ext cx="8046720" cy="585216"/>
          </a:xfrm>
          <a:prstGeom prst="roundRect">
            <a:avLst>
              <a:gd name="adj" fmla="val 9375"/>
            </a:avLst>
          </a:prstGeom>
          <a:solidFill>
            <a:srgbClr val="E7E8D1"/>
          </a:solidFill>
          <a:ln/>
        </p:spPr>
      </p:sp>
      <p:sp>
        <p:nvSpPr>
          <p:cNvPr id="19" name="Shape 17"/>
          <p:cNvSpPr/>
          <p:nvPr/>
        </p:nvSpPr>
        <p:spPr>
          <a:xfrm>
            <a:off x="713232" y="3493008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37413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3374136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管理者による商品登録・編集・在庫管理（簡易管理画面）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87368"/>
            <a:ext cx="8046720" cy="585216"/>
          </a:xfrm>
          <a:prstGeom prst="roundRect">
            <a:avLst>
              <a:gd name="adj" fmla="val 9375"/>
            </a:avLst>
          </a:prstGeom>
          <a:solidFill>
            <a:srgbClr val="E7E8D1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42062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408736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834640" y="4087368"/>
            <a:ext cx="5623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お問い合わせフォームからの送信、管理者へメール通知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主要機能一覧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拡張機能（MVP後の発展課題）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MVPリリース後、学習テーマとして追加していく機能です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36776"/>
            <a:ext cx="146304" cy="146304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商品レビュー・評価機能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139696"/>
            <a:ext cx="146304" cy="146304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クーポン・セール機能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42616"/>
            <a:ext cx="146304" cy="146304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603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お気に入り（ウィッシュリスト）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45536"/>
            <a:ext cx="146304" cy="146304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632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メール通知（注文確認・発送通知）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48456"/>
            <a:ext cx="146304" cy="146304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5661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検索機能の強化（全文検索など）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151376"/>
            <a:ext cx="146304" cy="146304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690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管理者ダッシュボード（売上・注文件数のグラフ表示）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4b. 拡張機能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技術スタック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3898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75564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フロントエンド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12801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15768" y="13898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15768" y="175564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フロントエンド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3898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73168" y="175564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フロントエンド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128016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0568" y="13898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30568" y="175564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2860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957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276148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ビルド環境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22860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15768" y="23957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15768" y="276148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3957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73168" y="276148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環境構築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20840" y="228600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23957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30568" y="2761488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バージョン管理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技術スタック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システム構成図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3017520"/>
          </a:xfrm>
          <a:prstGeom prst="roundRect">
            <a:avLst>
              <a:gd name="adj" fmla="val 3030"/>
            </a:avLst>
          </a:prstGeom>
          <a:solidFill>
            <a:srgbClr val="E7E8D1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508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Docker環境（docker-compose）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210312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フロントエンド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TypeScript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1880" y="210312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27432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(PHP)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274320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3063240"/>
            <a:ext cx="640080" cy="0"/>
          </a:xfrm>
          <a:prstGeom prst="line">
            <a:avLst/>
          </a:prstGeom>
          <a:noFill/>
          <a:ln w="25400">
            <a:solidFill>
              <a:srgbClr val="8A3A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77840" y="3063240"/>
            <a:ext cx="640080" cy="0"/>
          </a:xfrm>
          <a:prstGeom prst="line">
            <a:avLst/>
          </a:prstGeom>
          <a:noFill/>
          <a:ln w="25400">
            <a:solidFill>
              <a:srgbClr val="8A3A2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システム構成図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サイトマップ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1078992" cy="685800"/>
          </a:xfrm>
          <a:prstGeom prst="roundRect">
            <a:avLst>
              <a:gd name="adj" fmla="val 46667"/>
            </a:avLst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トップ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27632" y="2537460"/>
            <a:ext cx="109728" cy="0"/>
          </a:xfrm>
          <a:prstGeom prst="line">
            <a:avLst/>
          </a:prstGeom>
          <a:noFill/>
          <a:ln w="19050">
            <a:solidFill>
              <a:srgbClr val="6B645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737360" y="2194560"/>
            <a:ext cx="1078992" cy="685800"/>
          </a:xfrm>
          <a:prstGeom prst="roundRect">
            <a:avLst>
              <a:gd name="adj" fmla="val 46667"/>
            </a:avLst>
          </a:prstGeom>
          <a:solidFill>
            <a:srgbClr val="E7E8D1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19456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商品一覧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16352" y="2537460"/>
            <a:ext cx="109728" cy="0"/>
          </a:xfrm>
          <a:prstGeom prst="line">
            <a:avLst/>
          </a:prstGeom>
          <a:noFill/>
          <a:ln w="19050">
            <a:solidFill>
              <a:srgbClr val="6B645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2194560"/>
            <a:ext cx="1078992" cy="685800"/>
          </a:xfrm>
          <a:prstGeom prst="roundRect">
            <a:avLst>
              <a:gd name="adj" fmla="val 46667"/>
            </a:avLst>
          </a:prstGeom>
          <a:solidFill>
            <a:srgbClr val="E7E8D1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219456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商品詳細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05072" y="2537460"/>
            <a:ext cx="109728" cy="0"/>
          </a:xfrm>
          <a:prstGeom prst="line">
            <a:avLst/>
          </a:prstGeom>
          <a:noFill/>
          <a:ln w="19050">
            <a:solidFill>
              <a:srgbClr val="6B645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2194560"/>
            <a:ext cx="1078992" cy="685800"/>
          </a:xfrm>
          <a:prstGeom prst="roundRect">
            <a:avLst>
              <a:gd name="adj" fmla="val 46667"/>
            </a:avLst>
          </a:prstGeom>
          <a:solidFill>
            <a:srgbClr val="E7E8D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19456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カート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93792" y="2537460"/>
            <a:ext cx="109728" cy="0"/>
          </a:xfrm>
          <a:prstGeom prst="line">
            <a:avLst/>
          </a:prstGeom>
          <a:noFill/>
          <a:ln w="19050">
            <a:solidFill>
              <a:srgbClr val="6B645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2194560"/>
            <a:ext cx="1078992" cy="685800"/>
          </a:xfrm>
          <a:prstGeom prst="roundRect">
            <a:avLst>
              <a:gd name="adj" fmla="val 46667"/>
            </a:avLst>
          </a:prstGeom>
          <a:solidFill>
            <a:srgbClr val="E7E8D1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19456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注文手続き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82512" y="2537460"/>
            <a:ext cx="109728" cy="0"/>
          </a:xfrm>
          <a:prstGeom prst="line">
            <a:avLst/>
          </a:prstGeom>
          <a:noFill/>
          <a:ln w="19050">
            <a:solidFill>
              <a:srgbClr val="6B645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92240" y="2194560"/>
            <a:ext cx="1078992" cy="685800"/>
          </a:xfrm>
          <a:prstGeom prst="roundRect">
            <a:avLst>
              <a:gd name="adj" fmla="val 46667"/>
            </a:avLst>
          </a:prstGeom>
          <a:solidFill>
            <a:srgbClr val="E7E8D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219456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71232" y="2537460"/>
            <a:ext cx="109728" cy="0"/>
          </a:xfrm>
          <a:prstGeom prst="line">
            <a:avLst/>
          </a:prstGeom>
          <a:noFill/>
          <a:ln w="19050">
            <a:solidFill>
              <a:srgbClr val="6B645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80960" y="2194560"/>
            <a:ext cx="1078992" cy="685800"/>
          </a:xfrm>
          <a:prstGeom prst="roundRect">
            <a:avLst>
              <a:gd name="adj" fmla="val 46667"/>
            </a:avLst>
          </a:prstGeom>
          <a:solidFill>
            <a:srgbClr val="E7E8D1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194560"/>
            <a:ext cx="1078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注文完了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2194560" cy="685800"/>
          </a:xfrm>
          <a:prstGeom prst="roundRect">
            <a:avLst>
              <a:gd name="adj" fmla="val 46667"/>
            </a:avLst>
          </a:prstGeom>
          <a:solidFill>
            <a:srgbClr val="A7BEA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3832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ログイン/会員登録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17520" y="3383280"/>
            <a:ext cx="1645920" cy="685800"/>
          </a:xfrm>
          <a:prstGeom prst="roundRect">
            <a:avLst>
              <a:gd name="adj" fmla="val 46667"/>
            </a:avLst>
          </a:prstGeom>
          <a:solidFill>
            <a:srgbClr val="E7E8D1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3383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マイページ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37760" y="3383280"/>
            <a:ext cx="1645920" cy="685800"/>
          </a:xfrm>
          <a:prstGeom prst="roundRect">
            <a:avLst>
              <a:gd name="adj" fmla="val 46667"/>
            </a:avLst>
          </a:prstGeom>
          <a:solidFill>
            <a:srgbClr val="E7E8D1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383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注文履歴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0" y="3383280"/>
            <a:ext cx="1737360" cy="685800"/>
          </a:xfrm>
          <a:prstGeom prst="roundRect">
            <a:avLst>
              <a:gd name="adj" fmla="val 46667"/>
            </a:avLst>
          </a:prstGeom>
          <a:solidFill>
            <a:srgbClr val="8A3A2E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サイトマップ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決済方針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Stripe（テストモード）でのクレジットカード決済のみ対応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B85042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実在のカード情報を使わず決済フローを完全に再現できる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B8504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175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コンビニ払い等はMVPでは対象外とし、学習効果に対して複雑さが増す機能は拡張フェーズに回す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B85042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404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Cashier という公式パッケージで実装の解説がしやすい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決済方針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A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開発スケジュール（WBS）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377440" y="1289304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2852928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18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要件定義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79776" y="1673352"/>
            <a:ext cx="536448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3389376" y="16184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02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基本設計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6224" y="2057400"/>
            <a:ext cx="536448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3925824" y="20025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865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詳細設計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52672" y="2441448"/>
            <a:ext cx="536448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2386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770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環境構築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2825496"/>
            <a:ext cx="402336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770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フロント開発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91456" y="3209544"/>
            <a:ext cx="1341120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6205728" y="3154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538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バックエンド開発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32576" y="3593592"/>
            <a:ext cx="1341120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7546848" y="35387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10日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922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73696" y="3977640"/>
            <a:ext cx="670560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8217408" y="39227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306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リリース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44256" y="4361688"/>
            <a:ext cx="268224" cy="256032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8485632" y="43068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開発スケジュール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8A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次のステップ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次は「要件定義」フェーズへ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164592" cy="16459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各画面の詳細な仕様（画面項目、入力チェック内容など）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770632"/>
            <a:ext cx="164592" cy="16459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データベースのテーブル設計（ER図）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364992"/>
            <a:ext cx="164592" cy="164592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API仕様の一覧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次のステップ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Store EC開発プロジェクト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EC開発プロジェクト 企画書</dc:title>
  <dc:subject>PptxGenJS Presentation</dc:subject>
  <dc:creator>Claude</dc:creator>
  <cp:lastModifiedBy>Claude</cp:lastModifiedBy>
  <cp:revision>1</cp:revision>
  <dcterms:created xsi:type="dcterms:W3CDTF">2026-07-02T15:54:55Z</dcterms:created>
  <dcterms:modified xsi:type="dcterms:W3CDTF">2026-07-02T15:54:55Z</dcterms:modified>
</cp:coreProperties>
</file>